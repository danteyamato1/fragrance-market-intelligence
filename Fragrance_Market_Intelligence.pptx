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3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74713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914400" y="14630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B9AI001  ·  PROGRAMMING FOR DATA ANALYSIS  ·  CA2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914400" y="1920240"/>
            <a:ext cx="105156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Fragrance Market</a:t>
            </a:r>
            <a:endParaRPr lang="en-US" sz="6000" dirty="0"/>
          </a:p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Intelligence</a:t>
            </a:r>
            <a:endParaRPr lang="en-US" sz="6000" dirty="0"/>
          </a:p>
        </p:txBody>
      </p:sp>
      <p:sp>
        <p:nvSpPr>
          <p:cNvPr id="5" name="Text 3"/>
          <p:cNvSpPr/>
          <p:nvPr/>
        </p:nvSpPr>
        <p:spPr>
          <a:xfrm>
            <a:off x="914400" y="42062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daily-updating decision-support system for the global </a:t>
            </a:r>
            <a:r>
              <a:rPr lang="en-US" sz="1800" b="1" i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fragrance market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914400" y="5120640"/>
            <a:ext cx="1828800" cy="27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5303520"/>
            <a:ext cx="100584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Daneel Khan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MSc Artificial Intelligence  ·  Dublin Business School</a:t>
            </a:r>
            <a:endParaRPr lang="en-US" sz="1800" dirty="0"/>
          </a:p>
          <a:p>
            <a:pPr marL="0" indent="0">
              <a:buNone/>
            </a:pPr>
            <a:r>
              <a:rPr lang="en-US" sz="13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ID 20084451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09728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problem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972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Fragrance market data is fragmented across incompatible sources.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685800" y="219456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194560"/>
            <a:ext cx="73152" cy="3931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0584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Fragrantica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100584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005840" y="33832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Ratings · notes · accords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 · seasons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00584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05840" y="5120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prices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219456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72000" y="2194560"/>
            <a:ext cx="73152" cy="3931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89204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Amazon USA / UAE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489204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892040" y="33832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pricing · stock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· sizes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89204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892040" y="5120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community sentiment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458200" y="2194560"/>
            <a:ext cx="3566160" cy="3931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458200" y="2194560"/>
            <a:ext cx="73152" cy="3931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2468880"/>
            <a:ext cx="31089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Nobody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8778240" y="31089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8778240" y="3383280"/>
            <a:ext cx="31089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Tracks longitudinal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daily across</a:t>
            </a:r>
            <a:endParaRPr lang="en-US" sz="13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sources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8778240" y="48463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LACKS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8778240" y="5120640"/>
            <a:ext cx="31089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now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457200" y="6537960"/>
            <a:ext cx="11247120" cy="13716"/>
          </a:xfrm>
          <a:prstGeom prst="rect">
            <a:avLst/>
          </a:prstGeom>
          <a:solidFill>
            <a:srgbClr val="D4CFC0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Fragrance Market Intelligence  ·  B9AI001 CA2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33856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09728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system produces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i="1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concrete outputs. Updated automatically every day.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685800" y="210312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960120" y="23774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4800" dirty="0"/>
          </a:p>
        </p:txBody>
      </p:sp>
      <p:sp>
        <p:nvSpPr>
          <p:cNvPr id="7" name="Text 5"/>
          <p:cNvSpPr/>
          <p:nvPr/>
        </p:nvSpPr>
        <p:spPr>
          <a:xfrm>
            <a:off x="2148840" y="2423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SQLite database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2148840" y="29260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normalised tables with FK relations.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Idempotent daily writes, full history.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6400800" y="210312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675120" y="237744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7863840" y="242316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Feature store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7863840" y="292608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Encoded · scaled · derived features.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consume from any ML model.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85800" y="420624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60120" y="448056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4800" dirty="0"/>
          </a:p>
        </p:txBody>
      </p:sp>
      <p:sp>
        <p:nvSpPr>
          <p:cNvPr id="15" name="Text 13"/>
          <p:cNvSpPr/>
          <p:nvPr/>
        </p:nvSpPr>
        <p:spPr>
          <a:xfrm>
            <a:off x="2148840" y="4526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Analytical CSVs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148840" y="5029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analyses: designer-vs-arabic,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arbitrage, value, sentiment.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00800" y="4206240"/>
            <a:ext cx="5486400" cy="18288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4480560"/>
            <a:ext cx="1097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4800" dirty="0"/>
          </a:p>
        </p:txBody>
      </p:sp>
      <p:sp>
        <p:nvSpPr>
          <p:cNvPr id="19" name="Text 17"/>
          <p:cNvSpPr/>
          <p:nvPr/>
        </p:nvSpPr>
        <p:spPr>
          <a:xfrm>
            <a:off x="7863840" y="4526280"/>
            <a:ext cx="37490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Interactive report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7863840" y="5029200"/>
            <a:ext cx="37490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Self-contained HTML.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2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Bokeh scatter + hover tooltips.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57200" y="6537960"/>
            <a:ext cx="11247120" cy="13716"/>
          </a:xfrm>
          <a:prstGeom prst="rect">
            <a:avLst/>
          </a:prstGeom>
          <a:solidFill>
            <a:srgbClr val="D4CFC0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Fragrance Market Intelligence  ·  B9AI001 CA2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33856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09728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Pipeline architecture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stages. Each with its own intermediate checkpoint.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457200" y="2286000"/>
            <a:ext cx="2103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457200" y="2286000"/>
            <a:ext cx="210312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9436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SCRAPE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Fragrantica + Amazon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 rot="5400000">
            <a:off x="2578608" y="3063240"/>
            <a:ext cx="146304" cy="91440"/>
          </a:xfrm>
          <a:prstGeom prst="rtTriangl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0" y="2286000"/>
            <a:ext cx="2103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743200" y="2286000"/>
            <a:ext cx="210312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880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288036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288036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transforms.py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ECB FX rates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 rot="5400000">
            <a:off x="4864608" y="3063240"/>
            <a:ext cx="146304" cy="91440"/>
          </a:xfrm>
          <a:prstGeom prst="rtTriangl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029200" y="2286000"/>
            <a:ext cx="2103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029200" y="2286000"/>
            <a:ext cx="210312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166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516636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516636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Encoders · scalers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features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 rot="5400000">
            <a:off x="7150608" y="3063240"/>
            <a:ext cx="146304" cy="91440"/>
          </a:xfrm>
          <a:prstGeom prst="rtTriangl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315200" y="2286000"/>
            <a:ext cx="2103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7315200" y="2286000"/>
            <a:ext cx="210312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52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745236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LOAD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745236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Raw + feature tables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 rot="5400000">
            <a:off x="9436608" y="3063240"/>
            <a:ext cx="146304" cy="91440"/>
          </a:xfrm>
          <a:prstGeom prst="rtTriangl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601200" y="2286000"/>
            <a:ext cx="210312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63500" dist="254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9601200" y="2286000"/>
            <a:ext cx="2103120" cy="7315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97383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9738360" y="278892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100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ANALYZE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9738360" y="32461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analyses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Bokeh report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685800" y="4663440"/>
            <a:ext cx="10789920" cy="118872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914400" y="48463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DAILY + PUBLISHED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914400" y="51206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GitHub Actions cron 06:00 UTC  ·  Live on GitHub Pages</a:t>
            </a:r>
            <a:endParaRPr lang="en-US" sz="1800" dirty="0"/>
          </a:p>
        </p:txBody>
      </p:sp>
      <p:sp>
        <p:nvSpPr>
          <p:cNvPr id="37" name="Text 35"/>
          <p:cNvSpPr/>
          <p:nvPr/>
        </p:nvSpPr>
        <p:spPr>
          <a:xfrm>
            <a:off x="914400" y="5486400"/>
            <a:ext cx="10515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 runners bypass Irish-IP EUR redirect  ·  Auto-commits to repo + docs/  ·  Single URL always shows today's report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457200" y="6537960"/>
            <a:ext cx="11247120" cy="13716"/>
          </a:xfrm>
          <a:prstGeom prst="rect">
            <a:avLst/>
          </a:prstGeom>
          <a:solidFill>
            <a:srgbClr val="D4CFC0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Fragrance Market Intelligence  ·  B9AI001 CA2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33856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09728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acquisition &amp; ethics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685800" y="1874520"/>
            <a:ext cx="457200" cy="27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85800" y="20116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Playwright + stealth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BeautifulSoup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Fresh context per product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ECB live FX feed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45720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ETHICS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572000" y="1874520"/>
            <a:ext cx="457200" cy="27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0" y="20116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pages only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limited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ToS reviewed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auth bypass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8458200" y="1554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REAL-WORLD MESS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8458200" y="1874520"/>
            <a:ext cx="457200" cy="27432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458200" y="2011680"/>
            <a:ext cx="3566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Cloudflare on Fragrantica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Irish IP → EUR redirect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Dupes outrank real products</a:t>
            </a:r>
            <a:endParaRPr lang="en-US" sz="1300" dirty="0"/>
          </a:p>
          <a:p>
            <a:pPr marL="342900" indent="-342900">
              <a:spcAft>
                <a:spcPts val="400"/>
              </a:spcAft>
              <a:buSzPct val="100000"/>
              <a:buChar char="▪"/>
            </a:pPr>
            <a:r>
              <a:rPr lang="en-US" sz="13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 detection via ranking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3931920"/>
            <a:ext cx="10789920" cy="2286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85800" y="3931920"/>
            <a:ext cx="91440" cy="228600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" y="40690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2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CREED STORY WHY MATCHING IS THE HARD PART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914400" y="443484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matcher picked up a </a:t>
            </a:r>
            <a:r>
              <a:rPr lang="en-US" sz="15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$20 roll-on oil</a:t>
            </a:r>
            <a:r>
              <a:rPr lang="en-US" sz="1500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Creed Silver Mountain Water instead of the </a:t>
            </a:r>
            <a:r>
              <a:rPr lang="en-US" sz="15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$490 real bottle.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14400" y="489204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required a four-layer filter: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14400" y="5212080"/>
            <a:ext cx="105156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Non-fragrance blacklist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Rejects roll-on · diffuser · inspired by · decant · dupe</a:t>
            </a:r>
            <a:endParaRPr lang="en-US" sz="120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12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Full-token coverage rule + scoring system</a:t>
            </a:r>
            <a:endParaRPr lang="en-US" sz="1200" dirty="0"/>
          </a:p>
          <a:p>
            <a:pPr marL="0" indent="0">
              <a:spcAft>
                <a:spcPts val="200"/>
              </a:spcAft>
              <a:buNone/>
            </a:pPr>
            <a:r>
              <a:rPr lang="en-US" sz="11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Requires every product-name word in title; picks highest score, not first match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457200" y="6537960"/>
            <a:ext cx="11247120" cy="13716"/>
          </a:xfrm>
          <a:prstGeom prst="rect">
            <a:avLst/>
          </a:prstGeom>
          <a:solidFill>
            <a:srgbClr val="D4CFC0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Fragrance Market Intelligence  ·  B9AI001 CA2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33856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09728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Transforms &amp; feature engineering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972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raw strings to ML-ready features two distinct layers.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5394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685800" y="2011680"/>
            <a:ext cx="5394960" cy="91440"/>
          </a:xfrm>
          <a:prstGeom prst="rect">
            <a:avLst/>
          </a:prstGeom>
          <a:solidFill>
            <a:srgbClr val="A7BEAE"/>
          </a:solidFill>
          <a:ln w="12700">
            <a:solidFill>
              <a:srgbClr val="A7BEA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240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514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Cleaning · transforms.py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301752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1E2A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transform functions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coercion · display strings (10.5k → 10500)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 oz → ml conversion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FX rates from ECB daily feed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1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   USD/AED → EUR, cached per-day for provenance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200" i="1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 rows with NO price AND NO rating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309360" y="2011680"/>
            <a:ext cx="5394960" cy="4206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309360" y="2011680"/>
            <a:ext cx="5394960" cy="914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537960" y="2240280"/>
            <a:ext cx="3657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kern="0" spc="300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LAYER 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6537960" y="25146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Engineering · feature_engineering.py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6537960" y="3017520"/>
            <a:ext cx="502920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LabelEncoder   </a:t>
            </a:r>
            <a:r>
              <a:rPr lang="en-US" sz="12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gender · brand_origin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OneHotEncoder   </a:t>
            </a:r>
            <a:r>
              <a:rPr lang="en-US" sz="12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fragrance_family · price_band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MinMaxScaler   </a:t>
            </a:r>
            <a:r>
              <a:rPr lang="en-US" sz="12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· price_per_ml · votes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Derived   </a:t>
            </a:r>
            <a:r>
              <a:rPr lang="en-US" sz="12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value_score · sentiment_polarisation</a:t>
            </a:r>
            <a:endParaRPr lang="en-US" sz="1300" dirty="0"/>
          </a:p>
          <a:p>
            <a:pPr marL="0" indent="0">
              <a:spcAft>
                <a:spcPts val="600"/>
              </a:spcAft>
              <a:buNone/>
            </a:pPr>
            <a:r>
              <a:rPr lang="en-US" sz="1300" b="1" dirty="0">
                <a:solidFill>
                  <a:srgbClr val="B8504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  </a:t>
            </a:r>
            <a:r>
              <a:rPr lang="en-US" sz="12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variance threshold · |r|&gt;0.95 drop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57200" y="6537960"/>
            <a:ext cx="11247120" cy="13716"/>
          </a:xfrm>
          <a:prstGeom prst="rect">
            <a:avLst/>
          </a:prstGeom>
          <a:solidFill>
            <a:srgbClr val="D4CFC0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Fragrance Market Intelligence  ·  B9AI001 CA2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33856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09728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 insights from today's pipeline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charts from cleaned_data/report_2026-04-14.html · 157 rated products · 84 USA+UAE overlap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94360" y="18288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731520" y="1938528"/>
            <a:ext cx="274320" cy="2743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09728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 distribution</a:t>
            </a:r>
            <a:endParaRPr lang="en-US" sz="1100" dirty="0"/>
          </a:p>
        </p:txBody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85800" y="2286000"/>
            <a:ext cx="3474720" cy="1600200"/>
          </a:xfrm>
          <a:prstGeom prst="rect">
            <a:avLst/>
          </a:prstGeom>
        </p:spPr>
      </p:pic>
      <p:sp>
        <p:nvSpPr>
          <p:cNvPr id="10" name="Shape 7"/>
          <p:cNvSpPr/>
          <p:nvPr/>
        </p:nvSpPr>
        <p:spPr>
          <a:xfrm>
            <a:off x="4434840" y="18288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572000" y="1938528"/>
            <a:ext cx="274320" cy="2743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0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493776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USA vs UAE arbitrage</a:t>
            </a:r>
            <a:endParaRPr lang="en-US" sz="1100" dirty="0"/>
          </a:p>
        </p:txBody>
      </p:sp>
      <p:pic>
        <p:nvPicPr>
          <p:cNvPr id="14" name="Image 1" descr="preencoded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526280" y="2286000"/>
            <a:ext cx="3474720" cy="1600200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8275320" y="182880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412480" y="1938528"/>
            <a:ext cx="274320" cy="2743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8412480" y="19385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100" dirty="0"/>
          </a:p>
        </p:txBody>
      </p:sp>
      <p:sp>
        <p:nvSpPr>
          <p:cNvPr id="18" name="Text 14"/>
          <p:cNvSpPr/>
          <p:nvPr/>
        </p:nvSpPr>
        <p:spPr>
          <a:xfrm>
            <a:off x="8778240" y="192024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Rating vs value</a:t>
            </a:r>
            <a:endParaRPr lang="en-US" sz="1100" dirty="0"/>
          </a:p>
        </p:txBody>
      </p:sp>
      <p:pic>
        <p:nvPicPr>
          <p:cNvPr id="19" name="Image 2" descr="preencoded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8366760" y="2286000"/>
            <a:ext cx="3474720" cy="160020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2495355" y="416052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2632515" y="4270248"/>
            <a:ext cx="274320" cy="2743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17"/>
          <p:cNvSpPr/>
          <p:nvPr/>
        </p:nvSpPr>
        <p:spPr>
          <a:xfrm>
            <a:off x="2632515" y="4270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100" dirty="0"/>
          </a:p>
        </p:txBody>
      </p:sp>
      <p:sp>
        <p:nvSpPr>
          <p:cNvPr id="23" name="Text 18"/>
          <p:cNvSpPr/>
          <p:nvPr/>
        </p:nvSpPr>
        <p:spPr>
          <a:xfrm>
            <a:off x="2998275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Sentiment buckets</a:t>
            </a:r>
            <a:endParaRPr lang="en-US" sz="110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3266579" y="4617720"/>
            <a:ext cx="2009274" cy="1600200"/>
          </a:xfrm>
          <a:prstGeom prst="rect">
            <a:avLst/>
          </a:prstGeom>
        </p:spPr>
      </p:pic>
      <p:sp>
        <p:nvSpPr>
          <p:cNvPr id="25" name="Shape 19"/>
          <p:cNvSpPr/>
          <p:nvPr/>
        </p:nvSpPr>
        <p:spPr>
          <a:xfrm>
            <a:off x="6365911" y="4160520"/>
            <a:ext cx="3657600" cy="219456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6" name="Shape 20"/>
          <p:cNvSpPr/>
          <p:nvPr/>
        </p:nvSpPr>
        <p:spPr>
          <a:xfrm>
            <a:off x="6503071" y="4270248"/>
            <a:ext cx="274320" cy="2743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7" name="Text 21"/>
          <p:cNvSpPr/>
          <p:nvPr/>
        </p:nvSpPr>
        <p:spPr>
          <a:xfrm>
            <a:off x="6503071" y="42702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868831" y="425196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Family composition</a:t>
            </a:r>
            <a:endParaRPr lang="en-US" sz="1100" dirty="0"/>
          </a:p>
        </p:txBody>
      </p:sp>
      <p:pic>
        <p:nvPicPr>
          <p:cNvPr id="29" name="Image 4" descr="preencoded.png"/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977715" y="4572000"/>
            <a:ext cx="2229449" cy="1600200"/>
          </a:xfrm>
          <a:prstGeom prst="rect">
            <a:avLst/>
          </a:prstGeom>
        </p:spPr>
      </p:pic>
      <p:sp>
        <p:nvSpPr>
          <p:cNvPr id="35" name="Shape 27"/>
          <p:cNvSpPr/>
          <p:nvPr/>
        </p:nvSpPr>
        <p:spPr>
          <a:xfrm>
            <a:off x="457200" y="6537960"/>
            <a:ext cx="11247120" cy="13716"/>
          </a:xfrm>
          <a:prstGeom prst="rect">
            <a:avLst/>
          </a:prstGeom>
          <a:solidFill>
            <a:srgbClr val="D4CFC0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36" name="Text 28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Fragrance Market Intelligence  ·  B9AI001 CA2</a:t>
            </a:r>
            <a:endParaRPr lang="en-US" sz="900" dirty="0"/>
          </a:p>
        </p:txBody>
      </p:sp>
      <p:sp>
        <p:nvSpPr>
          <p:cNvPr id="37" name="Text 29"/>
          <p:cNvSpPr/>
          <p:nvPr/>
        </p:nvSpPr>
        <p:spPr>
          <a:xfrm>
            <a:off x="1133856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09728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Real-world use case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85800" y="1371600"/>
            <a:ext cx="109728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i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first customer is me.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685800" y="2011680"/>
            <a:ext cx="10972800" cy="2011680"/>
          </a:xfrm>
          <a:prstGeom prst="rect">
            <a:avLst/>
          </a:prstGeom>
          <a:solidFill>
            <a:srgbClr val="2C3E50"/>
          </a:solidFill>
          <a:ln w="12700">
            <a:solidFill>
              <a:srgbClr val="2C3E5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85800" y="2011680"/>
            <a:ext cx="109728" cy="201168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19456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300" dirty="0">
                <a:solidFill>
                  <a:srgbClr val="A7BE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ARBITRAGE FLAG  ·  EUR-NORMALISED, LIVE FX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914400" y="2560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€22</a:t>
            </a:r>
            <a:endParaRPr lang="en-US" sz="4800" dirty="0"/>
          </a:p>
        </p:txBody>
      </p:sp>
      <p:sp>
        <p:nvSpPr>
          <p:cNvPr id="9" name="Text 7"/>
          <p:cNvSpPr/>
          <p:nvPr/>
        </p:nvSpPr>
        <p:spPr>
          <a:xfrm>
            <a:off x="914400" y="3383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Lattafa Khamrah Qahwa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UAE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480560" y="2560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€68</a:t>
            </a:r>
            <a:endParaRPr lang="en-US" sz="4800" dirty="0"/>
          </a:p>
        </p:txBody>
      </p:sp>
      <p:sp>
        <p:nvSpPr>
          <p:cNvPr id="11" name="Text 9"/>
          <p:cNvSpPr/>
          <p:nvPr/>
        </p:nvSpPr>
        <p:spPr>
          <a:xfrm>
            <a:off x="4480560" y="3383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product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 USA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046720" y="2560320"/>
            <a:ext cx="3200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+203%</a:t>
            </a:r>
            <a:endParaRPr lang="en-US" sz="4800" dirty="0"/>
          </a:p>
        </p:txBody>
      </p:sp>
      <p:sp>
        <p:nvSpPr>
          <p:cNvPr id="13" name="Text 11"/>
          <p:cNvSpPr/>
          <p:nvPr/>
        </p:nvSpPr>
        <p:spPr>
          <a:xfrm>
            <a:off x="8046720" y="3383280"/>
            <a:ext cx="3200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gap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E7E8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auto-flagged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5800" y="438912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868680" y="4526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68680" y="4846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Brand sourcing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868680" y="5257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Opulence by Arkane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supply decisions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520440" y="438912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3703320" y="4526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703320" y="4846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Competitive intel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703320" y="5257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entrants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positioning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355080" y="438912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6537960" y="4526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537960" y="4846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Value recommender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37960" y="5257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Note-overlap matching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consumers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9189720" y="4389120"/>
            <a:ext cx="26974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635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9372600" y="4526280"/>
            <a:ext cx="914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9372600" y="484632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dataset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9372600" y="5257800"/>
            <a:ext cx="2468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Longitudinal market</a:t>
            </a:r>
            <a:endParaRPr lang="en-US" sz="1100" dirty="0"/>
          </a:p>
          <a:p>
            <a:pPr marL="0" indent="0">
              <a:buNone/>
            </a:pPr>
            <a:r>
              <a:rPr lang="en-US" sz="11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457200" y="6537960"/>
            <a:ext cx="11247120" cy="13716"/>
          </a:xfrm>
          <a:prstGeom prst="rect">
            <a:avLst/>
          </a:prstGeom>
          <a:solidFill>
            <a:srgbClr val="D4CFC0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Fragrance Market Intelligence  ·  B9AI001 CA2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33856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594360"/>
            <a:ext cx="109728" cy="50292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685800" y="50292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Testing, automation &amp; reliability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554480"/>
            <a:ext cx="36118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685800" y="17830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54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685800" y="27889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+ integration tests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526280" y="1554480"/>
            <a:ext cx="36118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526280" y="17830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06:00</a:t>
            </a:r>
            <a:endParaRPr lang="en-US" sz="5400" dirty="0"/>
          </a:p>
        </p:txBody>
      </p:sp>
      <p:sp>
        <p:nvSpPr>
          <p:cNvPr id="9" name="Text 7"/>
          <p:cNvSpPr/>
          <p:nvPr/>
        </p:nvSpPr>
        <p:spPr>
          <a:xfrm>
            <a:off x="4526280" y="27889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UTC cron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366760" y="1554480"/>
            <a:ext cx="3611880" cy="1645920"/>
          </a:xfrm>
          <a:prstGeom prst="rect">
            <a:avLst/>
          </a:prstGeom>
          <a:solidFill>
            <a:srgbClr val="FFFFFF"/>
          </a:solidFill>
          <a:ln w="12700">
            <a:solidFill>
              <a:srgbClr val="D4CFC0"/>
            </a:solidFill>
            <a:prstDash val="solid"/>
          </a:ln>
          <a:effectLst>
            <a:outerShdw blurRad="76200" dist="254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8366760" y="1783080"/>
            <a:ext cx="36118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400" b="1" dirty="0">
                <a:solidFill>
                  <a:srgbClr val="B8504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LIVE</a:t>
            </a:r>
            <a:endParaRPr lang="en-US" sz="5400" dirty="0"/>
          </a:p>
        </p:txBody>
      </p:sp>
      <p:sp>
        <p:nvSpPr>
          <p:cNvPr id="12" name="Text 10"/>
          <p:cNvSpPr/>
          <p:nvPr/>
        </p:nvSpPr>
        <p:spPr>
          <a:xfrm>
            <a:off x="8366760" y="2788920"/>
            <a:ext cx="3611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kern="0" spc="1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GitHub Pages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14400" y="3767328"/>
            <a:ext cx="274320" cy="2743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14400" y="3767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371600" y="365760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Idempotent migrations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371600" y="402336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IF NOT EXISTS plus ALTER TABLE ADD COLUMN in try/except - safe to re-run.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914400" y="4636008"/>
            <a:ext cx="274320" cy="2743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14400" y="4636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371600" y="452628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Insert-or-replace writes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371600" y="489204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Same-day re-runs overwrite rather than duplicate. No manual cleanup ever.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914400" y="5504688"/>
            <a:ext cx="274320" cy="274320"/>
          </a:xfrm>
          <a:prstGeom prst="ellipse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14400" y="55046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371600" y="53949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2A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Three-tier FX fallback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1371600" y="5760720"/>
            <a:ext cx="10058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ECB → cached earlier date → hardcoded. Pipeline never hard-fails on network blip.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57200" y="6537960"/>
            <a:ext cx="11247120" cy="13716"/>
          </a:xfrm>
          <a:prstGeom prst="rect">
            <a:avLst/>
          </a:prstGeom>
          <a:solidFill>
            <a:srgbClr val="D4CFC0"/>
          </a:solidFill>
          <a:ln w="12700">
            <a:solidFill>
              <a:srgbClr val="D4CFC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57200" y="658368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Fragrance Market Intelligence  ·  B9AI001 CA2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338560" y="658368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7D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722</Words>
  <Application>Microsoft Office PowerPoint</Application>
  <PresentationFormat>Widescreen</PresentationFormat>
  <Paragraphs>192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B9AI001 CA2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Fragrance Market Intelligence</dc:title>
  <dc:subject>PptxGenJS Presentation</dc:subject>
  <dc:creator>Daneel Khan</dc:creator>
  <cp:lastModifiedBy>Azhar Shaikh</cp:lastModifiedBy>
  <cp:revision>6</cp:revision>
  <dcterms:created xsi:type="dcterms:W3CDTF">2026-04-14T03:28:29Z</dcterms:created>
  <dcterms:modified xsi:type="dcterms:W3CDTF">2026-04-14T04:00:42Z</dcterms:modified>
</cp:coreProperties>
</file>